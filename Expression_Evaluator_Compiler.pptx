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2068e37-60b2-45eb-0f85-bcfa1a42e8c4}">
          <p14:sldIdLst>
            <p14:sldId id="256"/>
            <p14:sldId id="257"/>
            <p14:sldId id="258"/>
          </p14:sldIdLst>
        </p14:section>
        <p14:section name="How It Works" id="{2670e2b8-e002-867f-95df-7b8387f5203c}">
          <p14:sldIdLst>
            <p14:sldId id="259"/>
            <p14:sldId id="260"/>
            <p14:sldId id="261"/>
          </p14:sldIdLst>
        </p14:section>
        <p14:section name="Features and System" id="{b5a349d5-165f-184a-a6e2-b0960ad40265}">
          <p14:sldIdLst>
            <p14:sldId id="262"/>
            <p14:sldId id="263"/>
            <p14:sldId id="264"/>
          </p14:sldIdLst>
        </p14:section>
        <p14:section name="Conclusion" id="{a094de94-6082-15f8-f4f3-cdd0b6689d42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4937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651760"/>
            <a:ext cx="4937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40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Expression Evaluator / Calculator Compiler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651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compiler-based approach to evaluating mathematical expressions</a:t>
            </a:r>
            <a:endParaRPr lang="en-US" sz="1600" dirty="0"/>
          </a:p>
        </p:txBody>
      </p:sp>
      <p:sp>
        <p:nvSpPr>
          <p:cNvPr id="4" name="Meta"/>
          <p:cNvSpPr txBox="1"/>
          <p:nvPr/>
        </p:nvSpPr>
        <p:spPr>
          <a:xfrm>
            <a:off x="548640" y="36576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Project Evaluation (24CS2235F)  |  A.Y. 2026 - 2027  |  Department of CSE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N. Girish (2420030125)  ·  S. Sri Charan (2420030127)  ·  A. Anil (2420030130)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Guide: Mr B. Dwarakanath</a:t>
            </a:r>
            <a:endParaRPr lang="en-US" sz="1200" dirty="0"/>
          </a:p>
        </p:txBody>
      </p:sp>
      <p:sp>
        <p:nvSpPr>
          <p:cNvPr id="5" name="Demo card"/>
          <p:cNvSpPr/>
          <p:nvPr/>
        </p:nvSpPr>
        <p:spPr>
          <a:xfrm>
            <a:off x="5943600" y="822960"/>
            <a:ext cx="274320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0" y="1051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INPUT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+ 4 * 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 &gt; parse &gt; eval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606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OUTPUT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11</a:t>
            </a:r>
            <a:endParaRPr lang="en-US" sz="6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A compiler-based application that evaluates mathematical expressions efficiently and accurately.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It applies fundamental compiler design techniques instead of simply computing the input.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6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3154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compiler stages from tokens to final result</a:t>
            </a:r>
            <a:endParaRPr lang="en-US" sz="1600" dirty="0"/>
          </a:p>
        </p:txBody>
      </p:sp>
      <p:sp>
        <p:nvSpPr>
          <p:cNvPr id="6" name="Traditional card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Traditional calculator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Computes the typed expression directly</a:t>
            </a:r>
            <a:endParaRPr lang="en-US" sz="1400" dirty="0"/>
          </a:p>
        </p:txBody>
      </p:sp>
      <p:sp>
        <p:nvSpPr>
          <p:cNvPr id="9" name="Compiler card"/>
          <p:cNvSpPr/>
          <p:nvPr/>
        </p:nvSpPr>
        <p:spPr>
          <a:xfrm>
            <a:off x="475488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Calculator compiler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566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Lexing, parsing, AST, validation, optimization and evaluation in sequence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Objective row 1"/>
          <p:cNvSpPr/>
          <p:nvPr/>
        </p:nvSpPr>
        <p:spPr>
          <a:xfrm>
            <a:off x="457200" y="123444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" name="Objective icon bg 1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Tokenize the in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258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Tokenize the input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lexical analyzer divides the expression into tokens</a:t>
            </a:r>
            <a:endParaRPr lang="en-US" sz="1600" dirty="0"/>
          </a:p>
        </p:txBody>
      </p:sp>
      <p:sp>
        <p:nvSpPr>
          <p:cNvPr id="7" name="Objective row 2"/>
          <p:cNvSpPr/>
          <p:nvPr/>
        </p:nvSpPr>
        <p:spPr>
          <a:xfrm>
            <a:off x="457200" y="2075688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8" name="Objective icon bg 2"/>
          <p:cNvSpPr/>
          <p:nvPr/>
        </p:nvSpPr>
        <p:spPr>
          <a:xfrm>
            <a:off x="640080" y="216712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Build the syntax tr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0428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16712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Build the syntax tree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parser applies operator precedence and grammar rules to create the AST</a:t>
            </a:r>
            <a:endParaRPr lang="en-US" sz="1600" dirty="0"/>
          </a:p>
        </p:txBody>
      </p:sp>
      <p:sp>
        <p:nvSpPr>
          <p:cNvPr id="11" name="Objective row 3"/>
          <p:cNvSpPr/>
          <p:nvPr/>
        </p:nvSpPr>
        <p:spPr>
          <a:xfrm>
            <a:off x="457200" y="2916936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2" name="Objective icon bg 3"/>
          <p:cNvSpPr/>
          <p:nvPr/>
        </p:nvSpPr>
        <p:spPr>
          <a:xfrm>
            <a:off x="640080" y="30083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Evaluate reliab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4553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00837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Evaluate reliably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Produce the result while handling invalid input, brackets and division by zero</a:t>
            </a:r>
            <a:endParaRPr lang="en-US" sz="1600" dirty="0"/>
          </a:p>
        </p:txBody>
      </p:sp>
      <p:sp>
        <p:nvSpPr>
          <p:cNvPr id="15" name="Objective row 4"/>
          <p:cNvSpPr/>
          <p:nvPr/>
        </p:nvSpPr>
        <p:spPr>
          <a:xfrm>
            <a:off x="457200" y="3758184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6" name="Objective icon bg 4"/>
          <p:cNvSpPr/>
          <p:nvPr/>
        </p:nvSpPr>
        <p:spPr>
          <a:xfrm>
            <a:off x="640080" y="3849624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3" descr="Make it interacti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8678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384962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Make it interactive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web interface to enter expressions and view results, tokens and the tree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Compilation Pipeline</a:t>
            </a:r>
            <a:endParaRPr lang="en-US" sz="3200" dirty="0"/>
          </a:p>
        </p:txBody>
      </p:sp>
      <p:sp>
        <p:nvSpPr>
          <p:cNvPr id="3" name="Stage card 1"/>
          <p:cNvSpPr/>
          <p:nvPr/>
        </p:nvSpPr>
        <p:spPr>
          <a:xfrm>
            <a:off x="457200" y="1280160"/>
            <a:ext cx="1261872" cy="2331720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/>
        </p:spPr>
      </p:sp>
      <p:sp>
        <p:nvSpPr>
          <p:cNvPr id="4" name="Stage number bg 1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Lexical Analysis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6032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Splits the input into tokens</a:t>
            </a:r>
            <a:endParaRPr lang="en-US" sz="1200" dirty="0"/>
          </a:p>
        </p:txBody>
      </p:sp>
      <p:sp>
        <p:nvSpPr>
          <p:cNvPr id="8" name="Stage card 2"/>
          <p:cNvSpPr/>
          <p:nvPr/>
        </p:nvSpPr>
        <p:spPr>
          <a:xfrm>
            <a:off x="1850746" y="1280160"/>
            <a:ext cx="1261872" cy="2331720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/>
        </p:spPr>
      </p:sp>
      <p:sp>
        <p:nvSpPr>
          <p:cNvPr id="9" name="Stage number bg 2"/>
          <p:cNvSpPr/>
          <p:nvPr/>
        </p:nvSpPr>
        <p:spPr>
          <a:xfrm>
            <a:off x="1987906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87906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960474" y="196596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Syntax Analysis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960474" y="256032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Parses tokens using precedence and grammar rules</a:t>
            </a:r>
            <a:endParaRPr lang="en-US" sz="1200" dirty="0"/>
          </a:p>
        </p:txBody>
      </p:sp>
      <p:sp>
        <p:nvSpPr>
          <p:cNvPr id="13" name="Stage card 3"/>
          <p:cNvSpPr/>
          <p:nvPr/>
        </p:nvSpPr>
        <p:spPr>
          <a:xfrm>
            <a:off x="3244291" y="1280160"/>
            <a:ext cx="1261872" cy="2331720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/>
        </p:spPr>
      </p:sp>
      <p:sp>
        <p:nvSpPr>
          <p:cNvPr id="14" name="Stage number bg 3"/>
          <p:cNvSpPr/>
          <p:nvPr/>
        </p:nvSpPr>
        <p:spPr>
          <a:xfrm>
            <a:off x="3381451" y="1417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81451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354019" y="196596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AST Generation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54019" y="256032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Builds a tree mirroring the expression structure</a:t>
            </a:r>
            <a:endParaRPr lang="en-US" sz="1200" dirty="0"/>
          </a:p>
        </p:txBody>
      </p:sp>
      <p:sp>
        <p:nvSpPr>
          <p:cNvPr id="18" name="Stage card 4"/>
          <p:cNvSpPr/>
          <p:nvPr/>
        </p:nvSpPr>
        <p:spPr>
          <a:xfrm>
            <a:off x="4637837" y="1280160"/>
            <a:ext cx="1261872" cy="2331720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/>
        </p:spPr>
      </p:sp>
      <p:sp>
        <p:nvSpPr>
          <p:cNvPr id="19" name="Stage number bg 4"/>
          <p:cNvSpPr/>
          <p:nvPr/>
        </p:nvSpPr>
        <p:spPr>
          <a:xfrm>
            <a:off x="4774997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74997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747565" y="196596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Semantic Validation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47565" y="256032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Checks that the expression is valid</a:t>
            </a:r>
            <a:endParaRPr lang="en-US" sz="1200" dirty="0"/>
          </a:p>
        </p:txBody>
      </p:sp>
      <p:sp>
        <p:nvSpPr>
          <p:cNvPr id="23" name="Stage card 5"/>
          <p:cNvSpPr/>
          <p:nvPr/>
        </p:nvSpPr>
        <p:spPr>
          <a:xfrm>
            <a:off x="6031382" y="1280160"/>
            <a:ext cx="1261872" cy="2331720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/>
        </p:spPr>
      </p:sp>
      <p:sp>
        <p:nvSpPr>
          <p:cNvPr id="24" name="Stage number bg 5"/>
          <p:cNvSpPr/>
          <p:nvPr/>
        </p:nvSpPr>
        <p:spPr>
          <a:xfrm>
            <a:off x="6168542" y="1417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68542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141110" y="196596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Optimization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41110" y="256032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Simplifies the tree, e.g. constant folding</a:t>
            </a:r>
            <a:endParaRPr lang="en-US" sz="1200" dirty="0"/>
          </a:p>
        </p:txBody>
      </p:sp>
      <p:sp>
        <p:nvSpPr>
          <p:cNvPr id="28" name="Stage card 6"/>
          <p:cNvSpPr/>
          <p:nvPr/>
        </p:nvSpPr>
        <p:spPr>
          <a:xfrm>
            <a:off x="7424928" y="1280160"/>
            <a:ext cx="1261872" cy="2331720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/>
        </p:spPr>
      </p:sp>
      <p:sp>
        <p:nvSpPr>
          <p:cNvPr id="29" name="Stage number bg 6"/>
          <p:cNvSpPr/>
          <p:nvPr/>
        </p:nvSpPr>
        <p:spPr>
          <a:xfrm>
            <a:off x="7562088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62088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534656" y="196596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534656" y="2560320"/>
            <a:ext cx="1078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Walks the tree to produce the final result</a:t>
            </a:r>
            <a:endParaRPr lang="en-US" sz="1200" dirty="0"/>
          </a:p>
        </p:txBody>
      </p:sp>
      <p:sp>
        <p:nvSpPr>
          <p:cNvPr id="33" name="Example band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1520" y="38404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INPUT  </a:t>
            </a:r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+ 4 * (2 - 1)</a:t>
            </a:r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     &gt;     </a:t>
            </a:r>
            <a:pPr algn="l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OUTPUT  </a:t>
            </a:r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Lexical Analysis and Parsing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Example input:  </a:t>
            </a:r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+ 4 * (2 - 1)</a:t>
            </a:r>
            <a:endParaRPr lang="en-US" sz="1400" dirty="0"/>
          </a:p>
        </p:txBody>
      </p:sp>
      <p:sp>
        <p:nvSpPr>
          <p:cNvPr id="4" name="Token 1"/>
          <p:cNvSpPr/>
          <p:nvPr/>
        </p:nvSpPr>
        <p:spPr>
          <a:xfrm>
            <a:off x="457200" y="1645920"/>
            <a:ext cx="8229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NUM(3)</a:t>
            </a:r>
            <a:endParaRPr lang="en-US" sz="1100" dirty="0"/>
          </a:p>
        </p:txBody>
      </p:sp>
      <p:sp>
        <p:nvSpPr>
          <p:cNvPr id="6" name="Token 2"/>
          <p:cNvSpPr/>
          <p:nvPr/>
        </p:nvSpPr>
        <p:spPr>
          <a:xfrm>
            <a:off x="1371600" y="1645920"/>
            <a:ext cx="8229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164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</a:t>
            </a:r>
            <a:endParaRPr lang="en-US" sz="1100" dirty="0"/>
          </a:p>
        </p:txBody>
      </p:sp>
      <p:sp>
        <p:nvSpPr>
          <p:cNvPr id="8" name="Token 3"/>
          <p:cNvSpPr/>
          <p:nvPr/>
        </p:nvSpPr>
        <p:spPr>
          <a:xfrm>
            <a:off x="2286000" y="1645920"/>
            <a:ext cx="8229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86000" y="164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NUM(4)</a:t>
            </a:r>
            <a:endParaRPr lang="en-US" sz="1100" dirty="0"/>
          </a:p>
        </p:txBody>
      </p:sp>
      <p:sp>
        <p:nvSpPr>
          <p:cNvPr id="10" name="Token 4"/>
          <p:cNvSpPr/>
          <p:nvPr/>
        </p:nvSpPr>
        <p:spPr>
          <a:xfrm>
            <a:off x="3200400" y="1645920"/>
            <a:ext cx="8229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0" y="164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</a:t>
            </a:r>
            <a:endParaRPr lang="en-US" sz="1100" dirty="0"/>
          </a:p>
        </p:txBody>
      </p:sp>
      <p:sp>
        <p:nvSpPr>
          <p:cNvPr id="12" name="Token 5"/>
          <p:cNvSpPr/>
          <p:nvPr/>
        </p:nvSpPr>
        <p:spPr>
          <a:xfrm>
            <a:off x="4114800" y="1645920"/>
            <a:ext cx="82296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14800" y="164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LPAREN</a:t>
            </a:r>
            <a:endParaRPr lang="en-US" sz="1100" dirty="0"/>
          </a:p>
        </p:txBody>
      </p:sp>
      <p:sp>
        <p:nvSpPr>
          <p:cNvPr id="14" name="Token 6"/>
          <p:cNvSpPr/>
          <p:nvPr/>
        </p:nvSpPr>
        <p:spPr>
          <a:xfrm>
            <a:off x="5029200" y="1645920"/>
            <a:ext cx="8229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0" y="164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NUM(2)</a:t>
            </a:r>
            <a:endParaRPr lang="en-US" sz="1100" dirty="0"/>
          </a:p>
        </p:txBody>
      </p:sp>
      <p:sp>
        <p:nvSpPr>
          <p:cNvPr id="16" name="Token 7"/>
          <p:cNvSpPr/>
          <p:nvPr/>
        </p:nvSpPr>
        <p:spPr>
          <a:xfrm>
            <a:off x="5943600" y="1645920"/>
            <a:ext cx="8229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164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MINUS</a:t>
            </a:r>
            <a:endParaRPr lang="en-US" sz="1100" dirty="0"/>
          </a:p>
        </p:txBody>
      </p:sp>
      <p:sp>
        <p:nvSpPr>
          <p:cNvPr id="18" name="Token 8"/>
          <p:cNvSpPr/>
          <p:nvPr/>
        </p:nvSpPr>
        <p:spPr>
          <a:xfrm>
            <a:off x="6858000" y="1645920"/>
            <a:ext cx="8229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164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NUM(1)</a:t>
            </a:r>
            <a:endParaRPr lang="en-US" sz="1100" dirty="0"/>
          </a:p>
        </p:txBody>
      </p:sp>
      <p:sp>
        <p:nvSpPr>
          <p:cNvPr id="20" name="Token 9"/>
          <p:cNvSpPr/>
          <p:nvPr/>
        </p:nvSpPr>
        <p:spPr>
          <a:xfrm>
            <a:off x="7772400" y="1645920"/>
            <a:ext cx="82296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0" y="164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RPAREN</a:t>
            </a:r>
            <a:endParaRPr lang="en-US" sz="1100" dirty="0"/>
          </a:p>
        </p:txBody>
      </p:sp>
      <p:sp>
        <p:nvSpPr>
          <p:cNvPr id="22" name="Detail card 1"/>
          <p:cNvSpPr/>
          <p:nvPr/>
        </p:nvSpPr>
        <p:spPr>
          <a:xfrm>
            <a:off x="457200" y="2514600"/>
            <a:ext cx="39319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3" name="Detail icon bg 1"/>
          <p:cNvSpPr/>
          <p:nvPr/>
        </p:nvSpPr>
        <p:spPr>
          <a:xfrm>
            <a:off x="685800" y="2697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mage 0" descr="Lexical analyz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816352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71600" y="2697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Lexical analyzer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3429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Divides the input expression into tokens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Separates numbers, operators and parentheses</a:t>
            </a:r>
            <a:endParaRPr lang="en-US" sz="1400" dirty="0"/>
          </a:p>
        </p:txBody>
      </p:sp>
      <p:sp>
        <p:nvSpPr>
          <p:cNvPr id="27" name="Detail card 2"/>
          <p:cNvSpPr/>
          <p:nvPr/>
        </p:nvSpPr>
        <p:spPr>
          <a:xfrm>
            <a:off x="4754880" y="2514600"/>
            <a:ext cx="39319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8" name="Detail icon bg 2"/>
          <p:cNvSpPr/>
          <p:nvPr/>
        </p:nvSpPr>
        <p:spPr>
          <a:xfrm>
            <a:off x="4983480" y="2697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mage 1" descr="Par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2816352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5669280" y="2697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Parser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5029200" y="3429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Follows operator precedence and grammar rules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Constructs the Abstract Syntax Tree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AST Generation and Evaluation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+ 4 *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flipH="1">
            <a:off x="1463040" y="1783080"/>
            <a:ext cx="1097280" cy="11430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1783080"/>
            <a:ext cx="1097280" cy="11430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2926080" y="2926080"/>
            <a:ext cx="731520" cy="109728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2926080"/>
            <a:ext cx="731520" cy="109728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8" name="AST node 1"/>
          <p:cNvSpPr/>
          <p:nvPr/>
        </p:nvSpPr>
        <p:spPr>
          <a:xfrm>
            <a:off x="228600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860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+</a:t>
            </a:r>
            <a:endParaRPr lang="en-US" sz="2000" dirty="0"/>
          </a:p>
        </p:txBody>
      </p:sp>
      <p:sp>
        <p:nvSpPr>
          <p:cNvPr id="10" name="AST node 2"/>
          <p:cNvSpPr/>
          <p:nvPr/>
        </p:nvSpPr>
        <p:spPr>
          <a:xfrm>
            <a:off x="1188720" y="26517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AST node 3"/>
          <p:cNvSpPr/>
          <p:nvPr/>
        </p:nvSpPr>
        <p:spPr>
          <a:xfrm>
            <a:off x="3383280" y="2651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*</a:t>
            </a:r>
            <a:endParaRPr lang="en-US" sz="2000" dirty="0"/>
          </a:p>
        </p:txBody>
      </p:sp>
      <p:sp>
        <p:nvSpPr>
          <p:cNvPr id="14" name="AST node 4"/>
          <p:cNvSpPr/>
          <p:nvPr/>
        </p:nvSpPr>
        <p:spPr>
          <a:xfrm>
            <a:off x="2651760" y="3749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5176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AST node 5"/>
          <p:cNvSpPr/>
          <p:nvPr/>
        </p:nvSpPr>
        <p:spPr>
          <a:xfrm>
            <a:off x="4114800" y="3749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Evaluation card"/>
          <p:cNvSpPr/>
          <p:nvPr/>
        </p:nvSpPr>
        <p:spPr>
          <a:xfrm>
            <a:off x="5120640" y="1280160"/>
            <a:ext cx="356616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9496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Evaluated bottom-up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0116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4 * 2 = 8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3 + 8 = 11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Higher-precedence * sits deeper in the tree, so it is evaluated before +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Result  </a:t>
            </a:r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Built-in Error Handling</a:t>
            </a:r>
            <a:endParaRPr lang="en-US" sz="3200" dirty="0"/>
          </a:p>
        </p:txBody>
      </p:sp>
      <p:sp>
        <p:nvSpPr>
          <p:cNvPr id="3" name="Error card 1"/>
          <p:cNvSpPr/>
          <p:nvPr/>
        </p:nvSpPr>
        <p:spPr>
          <a:xfrm>
            <a:off x="45720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4" name="Error icon bg 1"/>
          <p:cNvSpPr/>
          <p:nvPr/>
        </p:nvSpPr>
        <p:spPr>
          <a:xfrm>
            <a:off x="685800" y="15544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Invalid express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0078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331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Invalid expressions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Malformed input is caught and reported</a:t>
            </a:r>
            <a:endParaRPr lang="en-US" sz="1400" dirty="0"/>
          </a:p>
        </p:txBody>
      </p:sp>
      <p:sp>
        <p:nvSpPr>
          <p:cNvPr id="8" name="Error example bg 1"/>
          <p:cNvSpPr/>
          <p:nvPr/>
        </p:nvSpPr>
        <p:spPr>
          <a:xfrm>
            <a:off x="685800" y="3703320"/>
            <a:ext cx="21031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* 4</a:t>
            </a:r>
            <a:endParaRPr lang="en-US" sz="1400" dirty="0"/>
          </a:p>
        </p:txBody>
      </p:sp>
      <p:sp>
        <p:nvSpPr>
          <p:cNvPr id="10" name="Error card 2"/>
          <p:cNvSpPr/>
          <p:nvPr/>
        </p:nvSpPr>
        <p:spPr>
          <a:xfrm>
            <a:off x="329184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1" name="Error icon bg 2"/>
          <p:cNvSpPr/>
          <p:nvPr/>
        </p:nvSpPr>
        <p:spPr>
          <a:xfrm>
            <a:off x="3520440" y="15544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1" descr="Mismatched parenthes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170078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2331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Mismatched parentheses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Unbalanced brackets are detected</a:t>
            </a:r>
            <a:endParaRPr lang="en-US" sz="1400" dirty="0"/>
          </a:p>
        </p:txBody>
      </p:sp>
      <p:sp>
        <p:nvSpPr>
          <p:cNvPr id="15" name="Error example bg 2"/>
          <p:cNvSpPr/>
          <p:nvPr/>
        </p:nvSpPr>
        <p:spPr>
          <a:xfrm>
            <a:off x="3520440" y="3703320"/>
            <a:ext cx="21031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52044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 + 3</a:t>
            </a:r>
            <a:endParaRPr lang="en-US" sz="1400" dirty="0"/>
          </a:p>
        </p:txBody>
      </p:sp>
      <p:sp>
        <p:nvSpPr>
          <p:cNvPr id="17" name="Error card 3"/>
          <p:cNvSpPr/>
          <p:nvPr/>
        </p:nvSpPr>
        <p:spPr>
          <a:xfrm>
            <a:off x="612648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8" name="Error icon bg 3"/>
          <p:cNvSpPr/>
          <p:nvPr/>
        </p:nvSpPr>
        <p:spPr>
          <a:xfrm>
            <a:off x="6355080" y="15544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2" descr="Division by zer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70078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55080" y="2331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Division by zero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35508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Zero divisors are flagged instead of evaluated</a:t>
            </a:r>
            <a:endParaRPr lang="en-US" sz="1400" dirty="0"/>
          </a:p>
        </p:txBody>
      </p:sp>
      <p:sp>
        <p:nvSpPr>
          <p:cNvPr id="22" name="Error example bg 3"/>
          <p:cNvSpPr/>
          <p:nvPr/>
        </p:nvSpPr>
        <p:spPr>
          <a:xfrm>
            <a:off x="6355080" y="3703320"/>
            <a:ext cx="21031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35508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Advanced Features</a:t>
            </a:r>
            <a:endParaRPr lang="en-US" sz="32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28016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4" name="Feature icon bg 1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Vari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581912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Variables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1400" dirty="0"/>
          </a:p>
        </p:txBody>
      </p:sp>
      <p:sp>
        <p:nvSpPr>
          <p:cNvPr id="8" name="Feature card 2"/>
          <p:cNvSpPr/>
          <p:nvPr/>
        </p:nvSpPr>
        <p:spPr>
          <a:xfrm>
            <a:off x="3291840" y="128016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9" name="Feature icon bg 2"/>
          <p:cNvSpPr/>
          <p:nvPr/>
        </p:nvSpPr>
        <p:spPr>
          <a:xfrm>
            <a:off x="352044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Math func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58191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Math functions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sqrt(16) = 4</a:t>
            </a:r>
            <a:endParaRPr lang="en-US" sz="1400" dirty="0"/>
          </a:p>
        </p:txBody>
      </p:sp>
      <p:sp>
        <p:nvSpPr>
          <p:cNvPr id="13" name="Feature card 3"/>
          <p:cNvSpPr/>
          <p:nvPr/>
        </p:nvSpPr>
        <p:spPr>
          <a:xfrm>
            <a:off x="6126480" y="128016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4" name="Feature icon bg 3"/>
          <p:cNvSpPr/>
          <p:nvPr/>
        </p:nvSpPr>
        <p:spPr>
          <a:xfrm>
            <a:off x="635508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Exponenti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581912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95160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Exponentiation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^ 10 = 1024</a:t>
            </a:r>
            <a:endParaRPr lang="en-US" sz="1400" dirty="0"/>
          </a:p>
        </p:txBody>
      </p:sp>
      <p:sp>
        <p:nvSpPr>
          <p:cNvPr id="18" name="Feature card 4"/>
          <p:cNvSpPr/>
          <p:nvPr/>
        </p:nvSpPr>
        <p:spPr>
          <a:xfrm>
            <a:off x="457200" y="2971800"/>
            <a:ext cx="39776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9" name="Feature icon bg 4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Expression histo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273552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Expression history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3840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Revisit previously evaluated expressions</a:t>
            </a:r>
            <a:endParaRPr lang="en-US" sz="1400" dirty="0"/>
          </a:p>
        </p:txBody>
      </p:sp>
      <p:sp>
        <p:nvSpPr>
          <p:cNvPr id="23" name="Feature card 5"/>
          <p:cNvSpPr/>
          <p:nvPr/>
        </p:nvSpPr>
        <p:spPr>
          <a:xfrm>
            <a:off x="4709160" y="2971800"/>
            <a:ext cx="39776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4" name="Feature icon bg 5"/>
          <p:cNvSpPr/>
          <p:nvPr/>
        </p:nvSpPr>
        <p:spPr>
          <a:xfrm>
            <a:off x="4937760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Constant fold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3273552"/>
            <a:ext cx="265176" cy="26517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577840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Constant folding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937760" y="3840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2 + 3 * 4 becomes 14 before evaluation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Tier card 1"/>
          <p:cNvSpPr/>
          <p:nvPr/>
        </p:nvSpPr>
        <p:spPr>
          <a:xfrm>
            <a:off x="457200" y="1280160"/>
            <a:ext cx="3017520" cy="22860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React.js frontend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Expression input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Result display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Token and syntax-tree views</a:t>
            </a:r>
            <a:endParaRPr lang="en-US" sz="1400" dirty="0"/>
          </a:p>
        </p:txBody>
      </p:sp>
      <p:sp>
        <p:nvSpPr>
          <p:cNvPr id="6" name="Tier card 2"/>
          <p:cNvSpPr/>
          <p:nvPr/>
        </p:nvSpPr>
        <p:spPr>
          <a:xfrm>
            <a:off x="5669280" y="1280160"/>
            <a:ext cx="30175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0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Spring Boot backend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20574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Lexical and syntax analysis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AST, validation, optimization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Expression evaluation</a:t>
            </a:r>
            <a:endParaRPr lang="en-US" sz="1400" dirty="0"/>
          </a:p>
        </p:txBody>
      </p:sp>
      <p:sp>
        <p:nvSpPr>
          <p:cNvPr id="9" name="Arrow request"/>
          <p:cNvSpPr/>
          <p:nvPr/>
        </p:nvSpPr>
        <p:spPr>
          <a:xfrm>
            <a:off x="3657600" y="1645920"/>
            <a:ext cx="17373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Expression</a:t>
            </a:r>
            <a:endParaRPr lang="en-US" sz="1200" dirty="0"/>
          </a:p>
        </p:txBody>
      </p:sp>
      <p:sp>
        <p:nvSpPr>
          <p:cNvPr id="11" name="Arrow response"/>
          <p:cNvSpPr/>
          <p:nvPr/>
        </p:nvSpPr>
        <p:spPr>
          <a:xfrm>
            <a:off x="3657600" y="2606040"/>
            <a:ext cx="1737360" cy="365760"/>
          </a:xfrm>
          <a:prstGeom prst="leftArrow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Result, tokens, tree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User sees</a:t>
            </a:r>
            <a:endParaRPr lang="en-US" sz="1600" dirty="0"/>
          </a:p>
        </p:txBody>
      </p:sp>
      <p:sp>
        <p:nvSpPr>
          <p:cNvPr id="14" name="Output chip 1"/>
          <p:cNvSpPr/>
          <p:nvPr/>
        </p:nvSpPr>
        <p:spPr>
          <a:xfrm>
            <a:off x="1920240" y="3931920"/>
            <a:ext cx="20116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920240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Result</a:t>
            </a:r>
            <a:endParaRPr lang="en-US" sz="1400" dirty="0"/>
          </a:p>
        </p:txBody>
      </p:sp>
      <p:sp>
        <p:nvSpPr>
          <p:cNvPr id="16" name="Output chip 2"/>
          <p:cNvSpPr/>
          <p:nvPr/>
        </p:nvSpPr>
        <p:spPr>
          <a:xfrm>
            <a:off x="4114800" y="3931920"/>
            <a:ext cx="20116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0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Tokens</a:t>
            </a:r>
            <a:endParaRPr lang="en-US" sz="1400" dirty="0"/>
          </a:p>
        </p:txBody>
      </p:sp>
      <p:sp>
        <p:nvSpPr>
          <p:cNvPr id="18" name="Output chip 3"/>
          <p:cNvSpPr/>
          <p:nvPr/>
        </p:nvSpPr>
        <p:spPr>
          <a:xfrm>
            <a:off x="6309360" y="3931920"/>
            <a:ext cx="201168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Syntax tree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The project demonstrates practical applications of:</a:t>
            </a:r>
            <a:endParaRPr lang="en-US" sz="1600" dirty="0"/>
          </a:p>
        </p:txBody>
      </p:sp>
      <p:sp>
        <p:nvSpPr>
          <p:cNvPr id="4" name="Pillar card 1"/>
          <p:cNvSpPr/>
          <p:nvPr/>
        </p:nvSpPr>
        <p:spPr>
          <a:xfrm>
            <a:off x="457200" y="1920240"/>
            <a:ext cx="182880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/>
        </p:spPr>
      </p:sp>
      <p:sp>
        <p:nvSpPr>
          <p:cNvPr id="5" name="Pillar icon bg 1"/>
          <p:cNvSpPr/>
          <p:nvPr/>
        </p:nvSpPr>
        <p:spPr>
          <a:xfrm>
            <a:off x="68580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ompiler de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926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Compiler design</a:t>
            </a:r>
            <a:endParaRPr lang="en-US" sz="1600" dirty="0"/>
          </a:p>
        </p:txBody>
      </p:sp>
      <p:sp>
        <p:nvSpPr>
          <p:cNvPr id="8" name="Pillar card 2"/>
          <p:cNvSpPr/>
          <p:nvPr/>
        </p:nvSpPr>
        <p:spPr>
          <a:xfrm>
            <a:off x="2590495" y="1920240"/>
            <a:ext cx="182880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/>
        </p:spPr>
      </p:sp>
      <p:sp>
        <p:nvSpPr>
          <p:cNvPr id="9" name="Pillar icon bg 2"/>
          <p:cNvSpPr/>
          <p:nvPr/>
        </p:nvSpPr>
        <p:spPr>
          <a:xfrm>
            <a:off x="2819095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Data structu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255" y="22860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19095" y="2926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 structures</a:t>
            </a:r>
            <a:endParaRPr lang="en-US" sz="1600" dirty="0"/>
          </a:p>
        </p:txBody>
      </p:sp>
      <p:sp>
        <p:nvSpPr>
          <p:cNvPr id="12" name="Pillar card 3"/>
          <p:cNvSpPr/>
          <p:nvPr/>
        </p:nvSpPr>
        <p:spPr>
          <a:xfrm>
            <a:off x="4723790" y="1920240"/>
            <a:ext cx="182880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/>
        </p:spPr>
      </p:sp>
      <p:sp>
        <p:nvSpPr>
          <p:cNvPr id="13" name="Pillar icon bg 3"/>
          <p:cNvSpPr/>
          <p:nvPr/>
        </p:nvSpPr>
        <p:spPr>
          <a:xfrm>
            <a:off x="495239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Algorithm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550" y="22860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952390" y="2926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Algorithms</a:t>
            </a:r>
            <a:endParaRPr lang="en-US" sz="1600" dirty="0"/>
          </a:p>
        </p:txBody>
      </p:sp>
      <p:sp>
        <p:nvSpPr>
          <p:cNvPr id="16" name="Pillar card 4"/>
          <p:cNvSpPr/>
          <p:nvPr/>
        </p:nvSpPr>
        <p:spPr>
          <a:xfrm>
            <a:off x="6857086" y="1920240"/>
            <a:ext cx="182880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/>
        </p:spPr>
      </p:sp>
      <p:sp>
        <p:nvSpPr>
          <p:cNvPr id="17" name="Pillar icon bg 4"/>
          <p:cNvSpPr/>
          <p:nvPr/>
        </p:nvSpPr>
        <p:spPr>
          <a:xfrm>
            <a:off x="7085686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3" descr="Software engineer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846" y="22860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85686" y="2926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Software engineering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1"/>
                </a:solidFill>
              </a:rPr>
              <a:t>A real-world expression processing system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iler Dark">
  <a:themeElements>
    <a:clrScheme name="Compiler Dark">
      <a:dk1>
        <a:srgbClr val="11161D"/>
      </a:dk1>
      <a:lt1>
        <a:srgbClr val="FFFFFF"/>
      </a:lt1>
      <a:dk2>
        <a:srgbClr val="243447"/>
      </a:dk2>
      <a:lt2>
        <a:srgbClr val="EEF2F5"/>
      </a:lt2>
      <a:accent1>
        <a:srgbClr val="F5A623"/>
      </a:accent1>
      <a:accent2>
        <a:srgbClr val="0F766E"/>
      </a:accent2>
      <a:accent3>
        <a:srgbClr val="E4572E"/>
      </a:accent3>
      <a:accent4>
        <a:srgbClr val="64748B"/>
      </a:accent4>
      <a:accent5>
        <a:srgbClr val="14B8A6"/>
      </a:accent5>
      <a:accent6>
        <a:srgbClr val="7C3AED"/>
      </a:accent6>
      <a:hlink>
        <a:srgbClr val="0F766E"/>
      </a:hlink>
      <a:folHlink>
        <a:srgbClr val="64748B"/>
      </a:folHlink>
    </a:clrScheme>
    <a:fontScheme name="Compiler 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Expression Evaluator / Calculator Compiler</dc:title>
  <dc:subject>PptxGenJS Presentation</dc:subject>
  <dc:creator>PptxGenJS</dc:creator>
  <cp:lastModifiedBy>PptxGenJS</cp:lastModifiedBy>
  <cp:revision>1</cp:revision>
  <dcterms:created xsi:type="dcterms:W3CDTF">2026-10-16T05:44:25Z</dcterms:created>
  <dcterms:modified xsi:type="dcterms:W3CDTF">2026-10-16T05:44:25Z</dcterms:modified>
</cp:coreProperties>
</file>